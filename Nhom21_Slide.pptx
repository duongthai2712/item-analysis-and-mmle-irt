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0" r:id="rId4"/>
  </p:sldMasterIdLst>
  <p:notesMasterIdLst>
    <p:notesMasterId r:id="rId24"/>
  </p:notesMasterIdLst>
  <p:sldIdLst>
    <p:sldId id="438" r:id="rId5"/>
    <p:sldId id="506" r:id="rId6"/>
    <p:sldId id="505" r:id="rId7"/>
    <p:sldId id="507" r:id="rId8"/>
    <p:sldId id="514" r:id="rId9"/>
    <p:sldId id="508" r:id="rId10"/>
    <p:sldId id="509" r:id="rId11"/>
    <p:sldId id="515" r:id="rId12"/>
    <p:sldId id="510" r:id="rId13"/>
    <p:sldId id="516" r:id="rId14"/>
    <p:sldId id="517" r:id="rId15"/>
    <p:sldId id="511" r:id="rId16"/>
    <p:sldId id="518" r:id="rId17"/>
    <p:sldId id="519" r:id="rId18"/>
    <p:sldId id="520" r:id="rId19"/>
    <p:sldId id="521" r:id="rId20"/>
    <p:sldId id="522" r:id="rId21"/>
    <p:sldId id="513" r:id="rId22"/>
    <p:sldId id="390" r:id="rId23"/>
  </p:sldIdLst>
  <p:sldSz cx="9144000" cy="5143500" type="screen16x9"/>
  <p:notesSz cx="6858000" cy="9144000"/>
  <p:embeddedFontLst>
    <p:embeddedFont>
      <p:font typeface="Maven Pro" panose="020B0604020202020204" charset="0"/>
      <p:regular r:id="rId25"/>
      <p:bold r:id="rId26"/>
    </p:embeddedFont>
    <p:embeddedFont>
      <p:font typeface="Neue Einstellung Light" panose="020B0604020202020204" charset="0"/>
      <p:regular r:id="rId27"/>
    </p:embeddedFont>
    <p:embeddedFont>
      <p:font typeface="Neue Einstellung SemiBold" panose="020B0604020202020204" charset="0"/>
      <p:bold r:id="rId28"/>
    </p:embeddedFont>
    <p:embeddedFont>
      <p:font typeface="Share Tech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E36"/>
    <a:srgbClr val="FAFAFC"/>
    <a:srgbClr val="FFFFFF"/>
    <a:srgbClr val="8BD4FA"/>
    <a:srgbClr val="0D99FF"/>
    <a:srgbClr val="000000"/>
    <a:srgbClr val="4FBDF9"/>
    <a:srgbClr val="1E1E1E"/>
    <a:srgbClr val="2A2A2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503D86-BD54-DC73-3BBD-1BF6403D0522}" v="412" dt="2024-12-14T11:42:26.301"/>
    <p1510:client id="{34535B81-214E-CF21-CBBA-819BAE049495}" v="9" dt="2024-12-14T10:46:42.243"/>
    <p1510:client id="{60743E31-8FE7-4CDB-88DE-241C6151900F}" v="1359" dt="2024-12-14T11:47:40.258"/>
    <p1510:client id="{D397511F-C815-41AA-BB8C-8BEF45BA8521}" v="1394" dt="2024-12-14T11:51:17.381"/>
    <p1510:client id="{DF778494-4833-4278-7D8F-BEE57D068CBB}" v="407" dt="2024-12-14T11:48:02.582"/>
  </p1510:revLst>
</p1510:revInfo>
</file>

<file path=ppt/tableStyles.xml><?xml version="1.0" encoding="utf-8"?>
<a:tblStyleLst xmlns:a="http://schemas.openxmlformats.org/drawingml/2006/main" def="{F86971EC-23BC-4F6C-A123-84953E9CEAF3}">
  <a:tblStyle styleId="{F86971EC-23BC-4F6C-A123-84953E9CEA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52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2A146139-3BFB-F200-6AEC-43D9D636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D5BA2E09-F491-2ACF-704A-AE944195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B7DCF76A-82F0-CEF3-6232-1FD4E780A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467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3737336-7197-D2CA-A0E3-2EA026FA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E547F043-8D3D-AC9D-3BB2-B79C941A4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7A9991A8-788B-47F0-B518-7FB8CE7D3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192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FF9822B-C141-5831-449D-06DC45F6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920E12DB-B256-829A-485F-84B6E5EA6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7AA7C427-FB22-CD6F-C7C1-4D8DB4875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695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BF01BD57-764D-67F9-13B5-EC1020F0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5D07B005-9C2C-2E5A-A4E6-5C7403866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BCD1A2B8-56BB-C9CB-D393-EB8ABA252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992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A13A42D-CB3A-3C3E-99AC-9F3B2BB8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D8711CDD-40EC-009F-3F22-52ED0E00A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E605014E-D568-4C54-6D12-848B45BA0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594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086C2A3B-56C3-4693-7DAC-54D3CF1E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D11B3240-A09D-A24E-095F-14FCEDE21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FB0B40B0-954D-AC85-38F7-5CCBD7CBB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354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98144FEC-ED21-B82A-66AF-FB8EA020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89217882-3604-33A8-7052-65C0FE2C9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16C3467D-2347-9997-A9EC-79C15760A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761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C007C3D4-FB27-6FA5-4088-10162BF3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A5E184EE-0DB6-D7AA-032F-0A4C29036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5FABAF2B-FCF7-FF92-71CA-B7D5327FF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712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AD200F25-D22F-EB55-D83A-345F44E4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5E93DEB6-5A9A-9B98-C2B8-5A5EE3A8A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C9726BA9-013B-3532-1559-E8BE1CF6D5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48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3B9D4F1-A2F9-EAB8-747C-1481DB5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36D7C807-976C-D328-FCA8-B1BD1BEBE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34091900-B8FE-6DD4-9F4F-52DFB8AA7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937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2BE404E-9046-F3D0-83C7-A6323112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95AE1593-309D-3BE7-03A8-6EFB62BE8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5900A68C-7BE2-752F-9A08-8681865C3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302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99AC1294-8DC3-AB2F-51D8-0694B258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936B83DF-539A-0CAB-92BF-74A9B8280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E89233A4-31DD-6975-936C-EA8DC2F8C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316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11B9B442-1602-6348-C112-7CFF1E829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C01A9228-128D-781C-1D98-463AEE5CF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36413DCB-CAF5-5438-2EE6-592CC5D89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406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2B637C0-F8BA-76BA-A66C-22CCCC87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E75F882C-6725-8C30-975C-74F921512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8F02610F-7F85-F7B7-AE3F-6B90A3D9A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313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0E08FD9-3657-896E-4A48-DD97FACDC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9B18CF7C-BE43-0B5B-ED49-5C68012ED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C8C18AFD-88CC-71CB-31B9-8F45EFD22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247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27465B0-54F2-8C26-119C-4AD83DA1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3CD4A0F0-11BE-370D-FE3C-903279338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1CAE4012-13E9-6724-C649-FF673FAFE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755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2BD0424-0B0A-7587-AC27-0F0E4965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>
            <a:extLst>
              <a:ext uri="{FF2B5EF4-FFF2-40B4-BE49-F238E27FC236}">
                <a16:creationId xmlns:a16="http://schemas.microsoft.com/office/drawing/2014/main" id="{0E242B00-582B-C8CC-0342-6A43F0777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>
            <a:extLst>
              <a:ext uri="{FF2B5EF4-FFF2-40B4-BE49-F238E27FC236}">
                <a16:creationId xmlns:a16="http://schemas.microsoft.com/office/drawing/2014/main" id="{340EA826-1E38-9F8B-DBC6-5BA84AB9D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42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1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0175BA-3F73-1E42-4485-A8512CF9E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B8E8A5-0109-D753-20AC-1A2570432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9143999" cy="512851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BAA9FD-277F-EAAC-DD61-2AD3D8CA8361}"/>
              </a:ext>
            </a:extLst>
          </p:cNvPr>
          <p:cNvSpPr/>
          <p:nvPr/>
        </p:nvSpPr>
        <p:spPr>
          <a:xfrm>
            <a:off x="1" y="4630649"/>
            <a:ext cx="9143999" cy="512851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031FB2B3-1886-4C37-2206-78B7F39FDB9E}"/>
              </a:ext>
            </a:extLst>
          </p:cNvPr>
          <p:cNvSpPr txBox="1"/>
          <p:nvPr/>
        </p:nvSpPr>
        <p:spPr>
          <a:xfrm>
            <a:off x="694942" y="2079822"/>
            <a:ext cx="7754112" cy="1222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ĐÁNH GIÁ CHẤT LƯỢNG CÁC ĐỀ THI THỬ CHUẨN HOÁ VÀ PHÂN TÍCH CHẨN ĐOÁN NĂNG LỰC CỦA HỌC SINH</a:t>
            </a:r>
            <a:endParaRPr lang="en-US" sz="2800" b="1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6BBCA8-FB60-DDAE-BCB8-ECBF62B81509}"/>
              </a:ext>
            </a:extLst>
          </p:cNvPr>
          <p:cNvGrpSpPr/>
          <p:nvPr/>
        </p:nvGrpSpPr>
        <p:grpSpPr>
          <a:xfrm>
            <a:off x="224157" y="213743"/>
            <a:ext cx="4951908" cy="711835"/>
            <a:chOff x="224157" y="4629221"/>
            <a:chExt cx="3508746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2BCB1C4D-0313-5A1A-5C77-44D183D961B3}"/>
                </a:ext>
              </a:extLst>
            </p:cNvPr>
            <p:cNvSpPr txBox="1"/>
            <p:nvPr/>
          </p:nvSpPr>
          <p:spPr>
            <a:xfrm>
              <a:off x="686734" y="4629221"/>
              <a:ext cx="3046169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20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|   DS111.Q12</a:t>
              </a:r>
            </a:p>
          </p:txBody>
        </p:sp>
        <p:pic>
          <p:nvPicPr>
            <p:cNvPr id="9" name="Google Shape;93;p1">
              <a:extLst>
                <a:ext uri="{FF2B5EF4-FFF2-40B4-BE49-F238E27FC236}">
                  <a16:creationId xmlns:a16="http://schemas.microsoft.com/office/drawing/2014/main" id="{BFB20BC5-0681-CD53-8C5B-BC1CC54CF3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436;p25">
            <a:extLst>
              <a:ext uri="{FF2B5EF4-FFF2-40B4-BE49-F238E27FC236}">
                <a16:creationId xmlns:a16="http://schemas.microsoft.com/office/drawing/2014/main" id="{5D7D99B8-FFCF-7AA0-C2EA-D5B276AB8132}"/>
              </a:ext>
            </a:extLst>
          </p:cNvPr>
          <p:cNvSpPr txBox="1"/>
          <p:nvPr/>
        </p:nvSpPr>
        <p:spPr>
          <a:xfrm>
            <a:off x="2853025" y="1395345"/>
            <a:ext cx="3437947" cy="579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2800" dirty="0">
                <a:solidFill>
                  <a:srgbClr val="211E36"/>
                </a:solidFill>
                <a:latin typeface="Neue Einstellung SemiBold" panose="01000000000000000000" pitchFamily="50" charset="0"/>
              </a:rPr>
              <a:t>BÁO </a:t>
            </a:r>
            <a:r>
              <a:rPr lang="en-US" sz="2800">
                <a:solidFill>
                  <a:srgbClr val="211E36"/>
                </a:solidFill>
                <a:latin typeface="Neue Einstellung SemiBold" panose="01000000000000000000" pitchFamily="50" charset="0"/>
              </a:rPr>
              <a:t>CÁO ĐỒ ÁN</a:t>
            </a:r>
            <a:endParaRPr lang="en-US" sz="2800" dirty="0">
              <a:solidFill>
                <a:srgbClr val="211E36"/>
              </a:solidFill>
              <a:latin typeface="Neue Einstellung SemiBold" panose="01000000000000000000" pitchFamily="50" charset="0"/>
            </a:endParaRPr>
          </a:p>
        </p:txBody>
      </p:sp>
      <p:sp>
        <p:nvSpPr>
          <p:cNvPr id="2" name="Google Shape;436;p25">
            <a:extLst>
              <a:ext uri="{FF2B5EF4-FFF2-40B4-BE49-F238E27FC236}">
                <a16:creationId xmlns:a16="http://schemas.microsoft.com/office/drawing/2014/main" id="{A8640BFA-CA07-EADB-9D31-3CCC50047931}"/>
              </a:ext>
            </a:extLst>
          </p:cNvPr>
          <p:cNvSpPr txBox="1"/>
          <p:nvPr/>
        </p:nvSpPr>
        <p:spPr>
          <a:xfrm>
            <a:off x="1562594" y="4390979"/>
            <a:ext cx="3303893" cy="479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  <a:tabLst>
                <a:tab pos="2400300" algn="l"/>
              </a:tabLst>
            </a:pPr>
            <a:endParaRPr lang="en-US" sz="400" dirty="0">
              <a:solidFill>
                <a:srgbClr val="FFFFFF"/>
              </a:solidFill>
              <a:latin typeface="Neue Einstellung SemiBold" panose="01000000000000000000" pitchFamily="50" charset="0"/>
            </a:endParaRPr>
          </a:p>
          <a:p>
            <a:pPr algn="l">
              <a:buClr>
                <a:srgbClr val="211E36"/>
              </a:buClr>
              <a:buSzPct val="100000"/>
              <a:tabLst>
                <a:tab pos="2400300" algn="l"/>
              </a:tabLst>
            </a:pPr>
            <a:r>
              <a:rPr lang="en-US" sz="1600" dirty="0">
                <a:solidFill>
                  <a:srgbClr val="FFFFFF"/>
                </a:solidFill>
                <a:latin typeface="Neue Einstellung Light" panose="01000000000000000000" pitchFamily="50" charset="0"/>
              </a:rPr>
              <a:t>Thái Bình Dương</a:t>
            </a:r>
            <a:r>
              <a:rPr lang="vi-VN" sz="1600" dirty="0">
                <a:solidFill>
                  <a:srgbClr val="FFFFFF"/>
                </a:solidFill>
                <a:latin typeface="Neue Einstellung Light" panose="01000000000000000000" pitchFamily="50" charset="0"/>
              </a:rPr>
              <a:t>              </a:t>
            </a:r>
            <a:r>
              <a:rPr lang="en-US" sz="1600" dirty="0">
                <a:solidFill>
                  <a:srgbClr val="FFFFFF"/>
                </a:solidFill>
                <a:latin typeface="Neue Einstellung SemiBold" panose="01000000000000000000" pitchFamily="50" charset="0"/>
              </a:rPr>
              <a:t>23520356</a:t>
            </a:r>
          </a:p>
        </p:txBody>
      </p:sp>
      <p:sp>
        <p:nvSpPr>
          <p:cNvPr id="11" name="Google Shape;436;p25">
            <a:extLst>
              <a:ext uri="{FF2B5EF4-FFF2-40B4-BE49-F238E27FC236}">
                <a16:creationId xmlns:a16="http://schemas.microsoft.com/office/drawing/2014/main" id="{996294B3-AD0C-7AF4-0B7C-5E8CD7FBE4F0}"/>
              </a:ext>
            </a:extLst>
          </p:cNvPr>
          <p:cNvSpPr txBox="1"/>
          <p:nvPr/>
        </p:nvSpPr>
        <p:spPr>
          <a:xfrm>
            <a:off x="224157" y="4430128"/>
            <a:ext cx="1338437" cy="40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vi-VN" sz="1800" dirty="0">
                <a:solidFill>
                  <a:srgbClr val="FFFFFF"/>
                </a:solidFill>
                <a:latin typeface="Neue Einstellung SemiBold" panose="01000000000000000000" pitchFamily="50" charset="0"/>
              </a:rPr>
              <a:t>Trình bày</a:t>
            </a:r>
            <a:r>
              <a:rPr lang="en-US" sz="1800" dirty="0">
                <a:solidFill>
                  <a:srgbClr val="FFFFFF"/>
                </a:solidFill>
                <a:latin typeface="Neue Einstellung SemiBold" panose="01000000000000000000" pitchFamily="50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23658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F195F38E-E5E7-DE16-B200-F8DEAA80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7E1A3F-4B8E-296D-2BEC-1664D188E2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82B7B90-4FDE-DEDC-4CFC-155326479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F3788186-48F5-65EC-0A81-DCAE3AAD8D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endParaRPr lang="en-US" sz="3200" dirty="0">
              <a:solidFill>
                <a:srgbClr val="FAFAFC"/>
              </a:solidFill>
              <a:latin typeface="+mj-lt"/>
            </a:endParaRP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D8DE0BAF-637A-5F70-25B4-9FECBA2743E7}"/>
              </a:ext>
            </a:extLst>
          </p:cNvPr>
          <p:cNvSpPr txBox="1"/>
          <p:nvPr/>
        </p:nvSpPr>
        <p:spPr>
          <a:xfrm>
            <a:off x="4724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Nội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dung</a:t>
            </a:r>
          </a:p>
        </p:txBody>
      </p: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BD5FC617-5E3A-55F6-5728-BEAE9062F5B4}"/>
              </a:ext>
            </a:extLst>
          </p:cNvPr>
          <p:cNvSpPr txBox="1"/>
          <p:nvPr/>
        </p:nvSpPr>
        <p:spPr>
          <a:xfrm>
            <a:off x="338698" y="954406"/>
            <a:ext cx="8451733" cy="334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1. Giới thiệu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2. Mô tả bộ dữ liệu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3. Hướng phân tích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4. Phân tích sơ bộ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5. Phân tích theo lý thuyết khảo thí cổ điển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(CTT)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6. Phân tích chẩn đoán bằng mô hình lý thuyết ứng đáp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(IRT)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7. Phân tích tương quan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8. Kết luận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663A0E-D10D-A51C-A95F-36E2B7363C06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343EA4A4-8E90-548F-1CD2-2A085CE6907C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2D90E476-4937-509A-90F2-E283CB2E978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6313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475C5809-2F8B-2B07-4E80-44DB0EBA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943C33-C7F3-D786-3EFA-1E685F63F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4493C9E8-E4C4-98EB-C2D6-99F44B128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4334FC35-4546-49BD-2B07-963044E21A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2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5D73BDF0-418C-4991-E626-9E6507333D19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Giới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thiệu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A5B8DC-56F9-69A3-ACC3-D1719C6B788D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D00432-A283-1B9B-E665-7973223B5BFA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3ACA1E77-6171-9F9F-C97E-85AFCEE1345E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1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82EFAA93-5B3B-497C-642D-59600051DF6A}"/>
              </a:ext>
            </a:extLst>
          </p:cNvPr>
          <p:cNvSpPr txBox="1"/>
          <p:nvPr/>
        </p:nvSpPr>
        <p:spPr>
          <a:xfrm>
            <a:off x="224156" y="1231809"/>
            <a:ext cx="4380489" cy="34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Xây dựng quy trình xử lý và phân tích dữ liệu bài làm thí sinh nhằm chẩn đoán: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+ Chất lượng câu hỏi trong đề thi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+ Năng lực thí sinh từng đợt thi</a:t>
            </a:r>
            <a:endParaRPr lang="en-US" sz="2200" b="1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So sánh tương quan và độ tin cậy giữa các đề thi thử.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Đánh giá mối liên hệ giữa: 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+ Năng lực làm bài thi thử 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+ Kết quả học tập trên lớp.</a:t>
            </a:r>
          </a:p>
          <a:p>
            <a:pPr indent="290513" algn="just">
              <a:buClr>
                <a:srgbClr val="211E36"/>
              </a:buClr>
              <a:buSzPct val="100000"/>
            </a:pP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72644C-8CBE-6B9D-7579-A4C8DFC2BA34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DB9E7F36-CB3C-DB26-7C89-F61A3AE7BAAB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1D2487C6-A5BE-B707-EF00-C0BFE6E8CED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436;p25">
            <a:extLst>
              <a:ext uri="{FF2B5EF4-FFF2-40B4-BE49-F238E27FC236}">
                <a16:creationId xmlns:a16="http://schemas.microsoft.com/office/drawing/2014/main" id="{2CB3480F-9114-7CA0-5EAF-55CE91616F54}"/>
              </a:ext>
            </a:extLst>
          </p:cNvPr>
          <p:cNvSpPr txBox="1"/>
          <p:nvPr/>
        </p:nvSpPr>
        <p:spPr>
          <a:xfrm>
            <a:off x="4763511" y="1231808"/>
            <a:ext cx="4380489" cy="34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Lý thuyết áp dụng: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1. Lý thuyết khảo thí cổ điển</a:t>
            </a: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vi-VN" sz="2200" b="1" dirty="0">
                <a:solidFill>
                  <a:srgbClr val="211E36"/>
                </a:solidFill>
                <a:latin typeface="+mn-lt"/>
              </a:rPr>
              <a:t>2. Lý thuyết ứng đáp câu hỏi</a:t>
            </a:r>
            <a:endParaRPr lang="en-US" sz="2200" b="1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endParaRPr lang="en-US" sz="2200" b="1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>
                <a:solidFill>
                  <a:srgbClr val="211E36"/>
                </a:solidFill>
                <a:latin typeface="+mn-lt"/>
              </a:rPr>
              <a:t>Công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cụ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: </a:t>
            </a:r>
            <a:r>
              <a:rPr lang="en-US" sz="2200" b="1" dirty="0">
                <a:solidFill>
                  <a:srgbClr val="211E36"/>
                </a:solidFill>
                <a:latin typeface="+mn-lt"/>
              </a:rPr>
              <a:t>Python, Google Forms</a:t>
            </a:r>
            <a:endParaRPr lang="vi-VN" sz="2200" b="1" dirty="0">
              <a:solidFill>
                <a:srgbClr val="211E3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330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4F4A836-6C59-E595-53E4-3DAE3AFB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0A714D-A8E0-DCAE-753E-DB41F93A29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0A8ACDDB-E7E3-40FB-9EE4-6E722F9CBC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0A146B13-5C22-D58E-9561-C4ED2164FF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3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DAEB2841-97D1-AF7F-396C-6EF144DDBECE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Mô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tả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bộ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dữ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liệu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479EA0-1A46-AAE0-1479-B9946CA5F2F4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C97ACF-D5A1-B148-32AE-C240832D21DA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B3BBF061-E9ED-D01E-EC6C-E63CBBCF1551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2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AD3B83DE-1B40-6358-1269-0678F96D7362}"/>
              </a:ext>
            </a:extLst>
          </p:cNvPr>
          <p:cNvSpPr txBox="1"/>
          <p:nvPr/>
        </p:nvSpPr>
        <p:spPr>
          <a:xfrm>
            <a:off x="215532" y="702543"/>
            <a:ext cx="8414069" cy="10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Bộ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1: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Dữ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liệu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làm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bài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các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sinh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trên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hai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theo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cấu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trúc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bài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ĐGNL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ĐHQG-HCM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A51877-B6E2-6374-2E5D-8D5037D3072A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48C3E04B-14FF-1D48-1F8D-6BC623E8AE2F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4EDDAB94-622D-6A98-0BDE-9B653CEBE98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43BA8A3-78D3-A0B5-1761-D9D57C4E8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32" y="3557541"/>
            <a:ext cx="3057952" cy="514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A95306-414F-8F74-D21C-F1AAE3066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88" y="1611232"/>
            <a:ext cx="7969405" cy="18741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A49662-E251-0272-8CBB-2AEA5E8768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973" y="3533425"/>
            <a:ext cx="4401164" cy="104789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281E36B-DB8A-4E72-2AF5-9BAE76020F77}"/>
              </a:ext>
            </a:extLst>
          </p:cNvPr>
          <p:cNvSpPr/>
          <p:nvPr/>
        </p:nvSpPr>
        <p:spPr>
          <a:xfrm>
            <a:off x="2042160" y="1734087"/>
            <a:ext cx="716280" cy="1751260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4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FCBABD08-52A5-7954-2F5B-E84D3464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AB2C80-AB42-9460-6546-A39A406640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E17A275-AA65-73EC-8D25-D083DA6DD6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73584F61-36F0-C398-3D04-0169ED8B6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4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365A7F80-A563-903D-B2EA-794B70071F5E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Mô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tả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bộ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dữ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liệu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834208-FE39-3175-3448-EA458C633DFA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7634B1-0F4C-0D7C-C9B1-2447C9509414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2C515059-1D95-6BBE-F451-0BFF622955FB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2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8746ACCE-BFC0-88B2-8144-26D43DE4F9A6}"/>
              </a:ext>
            </a:extLst>
          </p:cNvPr>
          <p:cNvSpPr txBox="1"/>
          <p:nvPr/>
        </p:nvSpPr>
        <p:spPr>
          <a:xfrm>
            <a:off x="215532" y="702543"/>
            <a:ext cx="8414069" cy="10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Bộ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2: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Kết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quả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tập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một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số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sinh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tham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thử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560B1-F354-92AA-8D0B-62E0152F28D7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F498C65B-31E6-1033-C8E9-B027E6560D16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FCA2E5D8-01F3-6EF9-3E96-72E80A7A61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94DF51F-D83E-6EB8-45A0-A61B0BD30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198" y="1547634"/>
            <a:ext cx="7532736" cy="25167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46A25B-C7DA-F401-8428-AFF1E7AF163F}"/>
              </a:ext>
            </a:extLst>
          </p:cNvPr>
          <p:cNvSpPr/>
          <p:nvPr/>
        </p:nvSpPr>
        <p:spPr>
          <a:xfrm>
            <a:off x="656198" y="1693540"/>
            <a:ext cx="819615" cy="2370832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3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52826609-AFB5-BDAB-132B-9710E29B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6D52E7-324C-8A42-45DB-781764424A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27F96165-F6AB-A005-D410-EC575A55A6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42F278FA-131A-4C2A-59A5-E3EED808AA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5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98EC48B8-E211-2F69-8308-890FDC0CE174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Hướng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50671B-27CB-BDAF-84A5-18D1F0710E8C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9B7B8A-0DC7-6A1A-4155-1E86EDF2800A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A7CD9454-4248-CA01-7C15-0C7E4F871978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3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6986EF70-762D-C461-F459-969236FB2BFE}"/>
              </a:ext>
            </a:extLst>
          </p:cNvPr>
          <p:cNvSpPr txBox="1"/>
          <p:nvPr/>
        </p:nvSpPr>
        <p:spPr>
          <a:xfrm>
            <a:off x="224156" y="949127"/>
            <a:ext cx="8414069" cy="3729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marL="287338" indent="-282575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•	Phân tích thăm dò: Thực hiện thống kê về thí sinh dự thi phổ điểm thô, học lực của học sinh. </a:t>
            </a:r>
          </a:p>
          <a:p>
            <a:pPr marL="287338" indent="-282575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•	Phân tích theo lý thuyết CTT: độ khó, độ phân biệt, độ nhiễu,…</a:t>
            </a:r>
          </a:p>
          <a:p>
            <a:pPr marL="287338" indent="-282575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•	Phân tích chẩn đoán bằng mô hình IRT: Uớc lượng độ khó, độ phân biệt của câu hỏi; năng lực điểm thực của mỗi thí sinh tại từng phần thi phân tích mức độ phù hợp của các tham số. </a:t>
            </a:r>
          </a:p>
          <a:p>
            <a:pPr marL="287338" indent="-282575"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•	Phân tích tương quan: Phân tích mối tương quan giữa hai đề thi, tương quan giữa thi thử với kết quả học tập.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81B8BDB-60AC-4F82-B68E-CA9E4097FBB7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377E8DC8-A09E-E1B8-7050-EB7EC5139A51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52020E6A-69DC-D1A3-F0B4-DD2DC0131AB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8929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DAA984D9-EEBF-60ED-0D2A-4B9975A6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4E12AA-0D8F-C310-1F29-FED17A453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172472D-3572-7D7F-5505-3003557701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29D93E84-CD0A-E30A-1B58-6485609527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6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1C6A295E-2533-4512-0E74-873D536623B3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sơ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bộ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B10AAF-4C5A-8C88-66CA-FE1A94453462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2E454BC-BBFC-EF0F-2171-E3645A5FD599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F5248740-69C7-D498-5CF8-18FEA3D7F914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696F56-B79A-0C99-5E87-CD7DC29C0A99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E3CD878B-66C8-91E5-F77F-836354187795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04B6AB0C-8FBD-0E37-A217-838E597436B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A graph with a blue line with Ryugyong Hotel in the background&#10;&#10;AI-generated content may be incorrect.">
            <a:extLst>
              <a:ext uri="{FF2B5EF4-FFF2-40B4-BE49-F238E27FC236}">
                <a16:creationId xmlns:a16="http://schemas.microsoft.com/office/drawing/2014/main" id="{655C719C-216B-202A-610F-8031CBFDF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3726"/>
            <a:ext cx="3828747" cy="2126116"/>
          </a:xfrm>
          <a:prstGeom prst="rect">
            <a:avLst/>
          </a:prstGeom>
        </p:spPr>
      </p:pic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BF842D06-796A-608C-C978-F48F45FE8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4" y="3365748"/>
            <a:ext cx="6706068" cy="1542395"/>
          </a:xfrm>
          <a:prstGeom prst="rect">
            <a:avLst/>
          </a:prstGeom>
        </p:spPr>
      </p:pic>
      <p:pic>
        <p:nvPicPr>
          <p:cNvPr id="8" name="Picture 7" descr="A graph with purple lines&#10;&#10;AI-generated content may be incorrect.">
            <a:extLst>
              <a:ext uri="{FF2B5EF4-FFF2-40B4-BE49-F238E27FC236}">
                <a16:creationId xmlns:a16="http://schemas.microsoft.com/office/drawing/2014/main" id="{E661CDCF-758E-6402-7EF3-283436872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187" y="1200361"/>
            <a:ext cx="3830263" cy="21261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589E45-C44C-1D45-CB66-B479E6828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612" y="9898"/>
            <a:ext cx="2656867" cy="20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9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3197289-8493-407E-1263-4A600F7F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8D323F-7D93-3E20-8312-BD78507F6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693CC162-4D2F-0DCA-22E3-B0925638B2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3293ED42-965F-BF7E-00CF-A82D44EA4A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7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02096602-764D-0D44-AFB9-5DA6AC9EEA01}"/>
              </a:ext>
            </a:extLst>
          </p:cNvPr>
          <p:cNvSpPr txBox="1"/>
          <p:nvPr/>
        </p:nvSpPr>
        <p:spPr>
          <a:xfrm>
            <a:off x="1044640" y="248764"/>
            <a:ext cx="3140085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sơ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bộ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5173D8-6272-FC67-A03D-E865A6100161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CC7EFC-6B1B-F8C5-49B9-844D4937074C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6B4324B4-DE34-EA96-4345-D4B91D1562C5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529D2A3-403C-F751-6DFA-06C6EF1EE8F4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AEFD1479-5B05-7849-887E-B5AE59B6F05F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14FE3425-00A8-739D-1037-E52AD9DDD73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Picture 9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21FAD437-CC7E-3A55-3CF5-38BD1CA47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51" y="986387"/>
            <a:ext cx="7253296" cy="35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0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05CEAC2-7F59-3DAE-BB18-F19AFD3C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C44F03-2187-08F2-DE36-4C6CB856E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60DA3424-48A7-24C8-6D6A-71D5E5885F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5C177ACE-DDCE-40CB-00BA-5055597C95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8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37904380-5D17-D732-9090-52B338325BA9}"/>
              </a:ext>
            </a:extLst>
          </p:cNvPr>
          <p:cNvSpPr txBox="1"/>
          <p:nvPr/>
        </p:nvSpPr>
        <p:spPr>
          <a:xfrm>
            <a:off x="1044640" y="248764"/>
            <a:ext cx="3289467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theo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CTT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0F10FE-71B0-C866-4C70-79C5A5F75DA4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1F9176-0AEA-DD3C-512B-63F98E2EE024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F7809E0F-3D80-F7AB-CD3A-A5C3A4723ABD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5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E07669C9-D598-6046-F2B5-1B6C67F250B4}"/>
              </a:ext>
            </a:extLst>
          </p:cNvPr>
          <p:cNvSpPr txBox="1"/>
          <p:nvPr/>
        </p:nvSpPr>
        <p:spPr>
          <a:xfrm>
            <a:off x="224156" y="764878"/>
            <a:ext cx="4347844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khó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,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phân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biệt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,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nhiễu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6D93E2-AA29-8622-37D5-F16E70567104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77E456C1-9A7A-7709-F0C8-0EB017B4FD7C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59A8F6D6-B95E-FB6F-926A-2FE522DFBBE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Picture 7" descr="A comparison of a graph&#10;&#10;AI-generated content may be incorrect.">
            <a:extLst>
              <a:ext uri="{FF2B5EF4-FFF2-40B4-BE49-F238E27FC236}">
                <a16:creationId xmlns:a16="http://schemas.microsoft.com/office/drawing/2014/main" id="{8C3ACC7E-C8BD-69FE-EB33-A78BE7185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82" y="1204087"/>
            <a:ext cx="3683922" cy="2099835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57A8D277-C736-92CE-2610-979297D80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156" y="1203660"/>
            <a:ext cx="3683923" cy="2100262"/>
          </a:xfrm>
          <a:prstGeom prst="rect">
            <a:avLst/>
          </a:prstGeom>
        </p:spPr>
      </p:pic>
      <p:pic>
        <p:nvPicPr>
          <p:cNvPr id="15" name="Picture 1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41953D3-E500-9515-9851-5D3E801C3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82" y="3400457"/>
            <a:ext cx="4732842" cy="164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8086B7B-1A7D-72E1-7BA4-DDFF1570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BE291F-2D12-EC13-1CCF-AB286ADA84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7A49485F-A4DA-677A-FD65-D1F1683E18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7715CAC5-3536-5BD1-CCC5-A8F951387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en-US" sz="3200" dirty="0">
                <a:solidFill>
                  <a:srgbClr val="FAFAFC"/>
                </a:solidFill>
                <a:latin typeface="+mj-lt"/>
              </a:rPr>
              <a:t>9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821B36AE-1B32-4DBA-FE73-6EA2A4DEEF07}"/>
              </a:ext>
            </a:extLst>
          </p:cNvPr>
          <p:cNvSpPr txBox="1"/>
          <p:nvPr/>
        </p:nvSpPr>
        <p:spPr>
          <a:xfrm>
            <a:off x="1044640" y="248764"/>
            <a:ext cx="3289467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theo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CTT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D21242-ABC1-429D-F26F-4B5683984DF7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DAC194-DEB9-3131-1787-6A30232B4C5A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16EAA223-4A38-E588-2B52-FD59E7A4FAD3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5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C20A7C37-AE6E-714E-E0EA-98537F84A544}"/>
              </a:ext>
            </a:extLst>
          </p:cNvPr>
          <p:cNvSpPr txBox="1"/>
          <p:nvPr/>
        </p:nvSpPr>
        <p:spPr>
          <a:xfrm>
            <a:off x="224155" y="764878"/>
            <a:ext cx="511356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>
                <a:solidFill>
                  <a:srgbClr val="211E36"/>
                </a:solidFill>
                <a:latin typeface="+mn-lt"/>
              </a:rPr>
              <a:t>Ma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trận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nhiệt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giữa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các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cặp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yếu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tố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F9EE8C-FB6C-B962-2C1C-9796D928C2EE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93C269B7-C133-9378-7DFC-27735CFFD722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1A587A87-9F24-7D8B-D097-1054A8C634C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5D40CF9-7E48-63E4-0FBA-F917E3F5D4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699"/>
          <a:stretch>
            <a:fillRect/>
          </a:stretch>
        </p:blipFill>
        <p:spPr>
          <a:xfrm>
            <a:off x="1" y="3125901"/>
            <a:ext cx="6238240" cy="1938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B551C-6448-4EE4-19A2-73BBC00DFA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693"/>
          <a:stretch>
            <a:fillRect/>
          </a:stretch>
        </p:blipFill>
        <p:spPr>
          <a:xfrm>
            <a:off x="2914169" y="1178756"/>
            <a:ext cx="6238240" cy="1938560"/>
          </a:xfrm>
          <a:prstGeom prst="rect">
            <a:avLst/>
          </a:prstGeom>
        </p:spPr>
      </p:pic>
      <p:sp>
        <p:nvSpPr>
          <p:cNvPr id="13" name="Google Shape;436;p25">
            <a:extLst>
              <a:ext uri="{FF2B5EF4-FFF2-40B4-BE49-F238E27FC236}">
                <a16:creationId xmlns:a16="http://schemas.microsoft.com/office/drawing/2014/main" id="{C7AD32B3-3231-F68A-DEBA-58E4B62C3AEF}"/>
              </a:ext>
            </a:extLst>
          </p:cNvPr>
          <p:cNvSpPr txBox="1"/>
          <p:nvPr/>
        </p:nvSpPr>
        <p:spPr>
          <a:xfrm>
            <a:off x="820484" y="1910500"/>
            <a:ext cx="4347844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1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sp>
        <p:nvSpPr>
          <p:cNvPr id="16" name="Google Shape;436;p25">
            <a:extLst>
              <a:ext uri="{FF2B5EF4-FFF2-40B4-BE49-F238E27FC236}">
                <a16:creationId xmlns:a16="http://schemas.microsoft.com/office/drawing/2014/main" id="{EDC2F309-2E0D-BFD1-41E6-C5955893A716}"/>
              </a:ext>
            </a:extLst>
          </p:cNvPr>
          <p:cNvSpPr txBox="1"/>
          <p:nvPr/>
        </p:nvSpPr>
        <p:spPr>
          <a:xfrm>
            <a:off x="6868163" y="3655336"/>
            <a:ext cx="4347844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2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3934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8E26A34B-38C2-E4B4-7F2D-CC6C9CF1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B0A18A-3B16-1FA4-B1E8-B975A3A09C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B1CD22-C3CE-937E-DAC3-381A83AC1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8C8D522C-8B7A-2F21-AB12-5EF7F5DFEE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0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D96CCB36-0211-7613-038C-D04ADB32C3C9}"/>
              </a:ext>
            </a:extLst>
          </p:cNvPr>
          <p:cNvSpPr txBox="1"/>
          <p:nvPr/>
        </p:nvSpPr>
        <p:spPr>
          <a:xfrm>
            <a:off x="1044640" y="248764"/>
            <a:ext cx="3289467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theo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IRT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92CE79-FF30-0972-9D7F-A26CC41A3D9C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5F152C-8A9D-1F5D-FCDB-C945C9BA8A22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FE9D0BA6-E4C1-CB91-7A3F-F52B2523E82A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6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7F8B932-BBD2-59A7-CF63-F3BD2E12A5D3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3CECA101-41F1-63E8-31C9-D890C514DFF9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AD50B34D-6E35-9A50-9CB4-CED4DA350C6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0F6075B-8E47-2E98-10D0-FCDBBDFAB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299" y="0"/>
            <a:ext cx="3904700" cy="2166966"/>
          </a:xfrm>
          <a:prstGeom prst="rect">
            <a:avLst/>
          </a:prstGeom>
        </p:spPr>
      </p:pic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D355AE7B-3313-F7A6-EC4F-085D33456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" y="1813216"/>
            <a:ext cx="6047232" cy="3320386"/>
          </a:xfrm>
          <a:prstGeom prst="rect">
            <a:avLst/>
          </a:prstGeom>
        </p:spPr>
      </p:pic>
      <p:sp>
        <p:nvSpPr>
          <p:cNvPr id="8" name="Google Shape;436;p25">
            <a:extLst>
              <a:ext uri="{FF2B5EF4-FFF2-40B4-BE49-F238E27FC236}">
                <a16:creationId xmlns:a16="http://schemas.microsoft.com/office/drawing/2014/main" id="{1F48F37B-8FB8-7B78-1980-AABF03FC1ECF}"/>
              </a:ext>
            </a:extLst>
          </p:cNvPr>
          <p:cNvSpPr txBox="1"/>
          <p:nvPr/>
        </p:nvSpPr>
        <p:spPr>
          <a:xfrm>
            <a:off x="6708107" y="3097567"/>
            <a:ext cx="119351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1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566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DD8EAD6F-F172-9C06-5D06-46CEF443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20E087-142B-D7E4-143A-E66AE7D10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0FB9B2D3-5A11-C2F8-06DE-D1A235056C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ED8B3CF7-5F3C-BC66-75BD-46B43C70D6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1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3EC6D002-BEF4-5091-A78F-AE204A8E379E}"/>
              </a:ext>
            </a:extLst>
          </p:cNvPr>
          <p:cNvSpPr txBox="1"/>
          <p:nvPr/>
        </p:nvSpPr>
        <p:spPr>
          <a:xfrm>
            <a:off x="1044640" y="248764"/>
            <a:ext cx="3289467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theo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IRT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7603DE-9799-3C1B-1B15-0C7D49B9306D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FF47B6-D27D-9A08-ECBF-8F353740D2DF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10391749-78C4-294D-AEDB-976FCC800CB5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6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4FE8D34-6243-3370-979E-F873012E5470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23AEA34F-04CE-DE10-0689-EB47C30A2AE3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C9F40032-2792-40A1-E827-A1ADC8C9952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91953B0-D2E2-7C81-23B6-BD17ABA6F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300" y="0"/>
            <a:ext cx="3904700" cy="2167036"/>
          </a:xfrm>
          <a:prstGeom prst="rect">
            <a:avLst/>
          </a:prstGeom>
        </p:spPr>
      </p:pic>
      <p:pic>
        <p:nvPicPr>
          <p:cNvPr id="13" name="Picture 12" descr="A group of small colored dots&#10;&#10;AI-generated content may be incorrect.">
            <a:extLst>
              <a:ext uri="{FF2B5EF4-FFF2-40B4-BE49-F238E27FC236}">
                <a16:creationId xmlns:a16="http://schemas.microsoft.com/office/drawing/2014/main" id="{7B8E34CC-3B32-6C19-7FDA-AB6C9E20A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703770"/>
            <a:ext cx="5985407" cy="3407887"/>
          </a:xfrm>
          <a:prstGeom prst="rect">
            <a:avLst/>
          </a:prstGeom>
        </p:spPr>
      </p:pic>
      <p:sp>
        <p:nvSpPr>
          <p:cNvPr id="15" name="Google Shape;436;p25">
            <a:extLst>
              <a:ext uri="{FF2B5EF4-FFF2-40B4-BE49-F238E27FC236}">
                <a16:creationId xmlns:a16="http://schemas.microsoft.com/office/drawing/2014/main" id="{2E6C734C-1081-0DA4-FB8F-4C64004400D2}"/>
              </a:ext>
            </a:extLst>
          </p:cNvPr>
          <p:cNvSpPr txBox="1"/>
          <p:nvPr/>
        </p:nvSpPr>
        <p:spPr>
          <a:xfrm>
            <a:off x="6708107" y="3097567"/>
            <a:ext cx="119351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2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821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04DA8BEF-2A26-4DDB-F168-AE0A0268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BF7D68-32DD-D4B7-B7EE-09FBD167C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E15B3BB8-A6ED-9912-AEC9-29BFEB168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AD332A79-BA47-158F-8287-0761E6F8A4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8BE62-9DC2-31FB-7F18-A1CE7D98BA66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EBA3DA24-2BF0-0B4A-0BE9-16C63227CDE9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44889ABA-CD7A-A674-8265-7023541B4C7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436;p25">
            <a:extLst>
              <a:ext uri="{FF2B5EF4-FFF2-40B4-BE49-F238E27FC236}">
                <a16:creationId xmlns:a16="http://schemas.microsoft.com/office/drawing/2014/main" id="{9491AA69-0F1B-5E5E-68E6-840610C143D0}"/>
              </a:ext>
            </a:extLst>
          </p:cNvPr>
          <p:cNvSpPr txBox="1"/>
          <p:nvPr/>
        </p:nvSpPr>
        <p:spPr>
          <a:xfrm>
            <a:off x="4875004" y="191690"/>
            <a:ext cx="410453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Đường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cong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đặc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trưng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bài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endParaRPr lang="en-US" sz="2200" dirty="0">
              <a:solidFill>
                <a:srgbClr val="211E36"/>
              </a:solidFill>
              <a:latin typeface="+mn-lt"/>
            </a:endParaRPr>
          </a:p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>
                <a:solidFill>
                  <a:srgbClr val="211E36"/>
                </a:solidFill>
                <a:latin typeface="+mn-lt"/>
              </a:rPr>
              <a:t>(Test Characteristic Curve)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DE2FC-A5D0-101A-2D92-7C8EB6860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9899"/>
            <a:ext cx="4613005" cy="2571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E1318-4E1C-6372-59C9-10643DC90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004" y="746507"/>
            <a:ext cx="4530996" cy="2526029"/>
          </a:xfrm>
          <a:prstGeom prst="rect">
            <a:avLst/>
          </a:prstGeom>
        </p:spPr>
      </p:pic>
      <p:sp>
        <p:nvSpPr>
          <p:cNvPr id="17" name="Google Shape;436;p25">
            <a:extLst>
              <a:ext uri="{FF2B5EF4-FFF2-40B4-BE49-F238E27FC236}">
                <a16:creationId xmlns:a16="http://schemas.microsoft.com/office/drawing/2014/main" id="{E0073459-9650-ECAA-3652-670A1025C328}"/>
              </a:ext>
            </a:extLst>
          </p:cNvPr>
          <p:cNvSpPr txBox="1"/>
          <p:nvPr/>
        </p:nvSpPr>
        <p:spPr>
          <a:xfrm>
            <a:off x="-71499" y="2702019"/>
            <a:ext cx="410453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Theta_SE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47920E-A9C7-84D0-6A2B-5BFC1531E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31596"/>
            <a:ext cx="5693664" cy="190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39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5053ECDC-B623-9E1D-61C9-57C30508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72D0F-91CB-3BF6-2856-2D53E741F4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81663620-18F8-E5F9-FD0E-D524ABC586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0D7DCCB8-6EC6-E2F7-B04F-84C883A559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73454A-7EE4-033B-325D-DBC75CC7027E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D2835F6E-3C71-5055-4C87-B7AD71C13350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77DCC578-20C6-8758-E92A-E49B021D80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436;p25">
            <a:extLst>
              <a:ext uri="{FF2B5EF4-FFF2-40B4-BE49-F238E27FC236}">
                <a16:creationId xmlns:a16="http://schemas.microsoft.com/office/drawing/2014/main" id="{70EC9164-597F-0618-4F40-DEBD0E30BF0C}"/>
              </a:ext>
            </a:extLst>
          </p:cNvPr>
          <p:cNvSpPr txBox="1"/>
          <p:nvPr/>
        </p:nvSpPr>
        <p:spPr>
          <a:xfrm>
            <a:off x="4875004" y="106346"/>
            <a:ext cx="4104531" cy="47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indent="290513" algn="just">
              <a:buClr>
                <a:srgbClr val="211E36"/>
              </a:buClr>
              <a:buSzPct val="100000"/>
            </a:pPr>
            <a:r>
              <a:rPr lang="en-US" sz="2200" dirty="0">
                <a:solidFill>
                  <a:srgbClr val="211E36"/>
                </a:solidFill>
                <a:latin typeface="+mn-lt"/>
              </a:rPr>
              <a:t>So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sánh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khó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với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năng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lực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4E0C5-874D-ACD6-C252-ED7641323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083"/>
            <a:ext cx="4572000" cy="2548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FC87C5-1779-1CCB-45BB-8902C8752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610742"/>
            <a:ext cx="4572000" cy="2548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1D0E53-16E5-59E9-49FA-E29F00F61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056728"/>
            <a:ext cx="2675229" cy="20768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1AB251-3589-62A7-DCE1-20E2CBDD4A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5229" y="3029712"/>
            <a:ext cx="2591155" cy="2103890"/>
          </a:xfrm>
          <a:prstGeom prst="rect">
            <a:avLst/>
          </a:prstGeom>
        </p:spPr>
      </p:pic>
      <p:sp>
        <p:nvSpPr>
          <p:cNvPr id="13" name="Google Shape;436;p25">
            <a:extLst>
              <a:ext uri="{FF2B5EF4-FFF2-40B4-BE49-F238E27FC236}">
                <a16:creationId xmlns:a16="http://schemas.microsoft.com/office/drawing/2014/main" id="{0A0C4218-61A7-8559-FD4D-287263870E99}"/>
              </a:ext>
            </a:extLst>
          </p:cNvPr>
          <p:cNvSpPr txBox="1"/>
          <p:nvPr/>
        </p:nvSpPr>
        <p:spPr>
          <a:xfrm>
            <a:off x="5266384" y="3686420"/>
            <a:ext cx="3371841" cy="81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Khả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năng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phù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hợp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câu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hỏi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với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mô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hình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44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E1DE259-66FB-B606-CFBC-CE849712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328B43-D522-783D-40C7-3F2B2AB20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F1DA2596-3DEB-B011-CF16-43BA400A38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0E215FE2-EA37-728B-A05D-170B9EC01A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4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E185EDB0-9FB0-1578-D7D7-57AC4601538A}"/>
              </a:ext>
            </a:extLst>
          </p:cNvPr>
          <p:cNvSpPr txBox="1"/>
          <p:nvPr/>
        </p:nvSpPr>
        <p:spPr>
          <a:xfrm>
            <a:off x="1044640" y="248764"/>
            <a:ext cx="3609136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Phân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tích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tương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quan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B259F6-A3C4-B312-A47F-4C3218CF0BC7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B379FD-1264-2C1E-D251-3043A3894D69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53F6D4C5-5DA6-733F-A65B-E30CF3A0D594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7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A88EF5C-4F57-B250-D15F-42B059A0DA35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32835B20-380F-CB5C-2509-236F0933DE6F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F8891DC6-F693-A2B6-96C5-776BD33D1C3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436;p25">
            <a:extLst>
              <a:ext uri="{FF2B5EF4-FFF2-40B4-BE49-F238E27FC236}">
                <a16:creationId xmlns:a16="http://schemas.microsoft.com/office/drawing/2014/main" id="{971678FD-3CAC-C9F8-428B-B3F7A2F4C4EF}"/>
              </a:ext>
            </a:extLst>
          </p:cNvPr>
          <p:cNvSpPr txBox="1"/>
          <p:nvPr/>
        </p:nvSpPr>
        <p:spPr>
          <a:xfrm>
            <a:off x="6778752" y="2945348"/>
            <a:ext cx="2341806" cy="51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Tương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quan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điểm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thực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những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thí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sinh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tham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cả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hai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BE4728-3A5A-9D1D-A0AE-589702590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2" y="1383685"/>
            <a:ext cx="6703020" cy="361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F5C4D2-0C53-964B-F230-9A7189931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102" y="431599"/>
            <a:ext cx="4245571" cy="82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9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DC52E5CB-27C8-9255-077E-65C2152A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28EC40-023F-B461-ED03-31ACB78AAD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F222AFCA-8FC8-2687-6A6E-E81E9DFF9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9EBF222C-737D-467D-1914-D4EBBD0FAB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2B1FAC-30E7-93F0-98FE-1CDC84517331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9D1FE5BC-988A-7780-9C57-217A5C2436F3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6D9BB23B-157C-8640-E282-F0A56D5B997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436;p25">
            <a:extLst>
              <a:ext uri="{FF2B5EF4-FFF2-40B4-BE49-F238E27FC236}">
                <a16:creationId xmlns:a16="http://schemas.microsoft.com/office/drawing/2014/main" id="{80E4CF30-0E7A-B1BD-A681-2C1A85001536}"/>
              </a:ext>
            </a:extLst>
          </p:cNvPr>
          <p:cNvSpPr txBox="1"/>
          <p:nvPr/>
        </p:nvSpPr>
        <p:spPr>
          <a:xfrm>
            <a:off x="150098" y="31843"/>
            <a:ext cx="8818538" cy="71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Tương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quan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giữa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điểm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thô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điểm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thực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xuất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công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thức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chuyển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đổi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cho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từng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phần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từng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D3F02D-9E60-45FA-1804-8105E6037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889433"/>
            <a:ext cx="4571999" cy="2060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70B931-5489-E949-7CE2-7777DDB64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9" y="884484"/>
            <a:ext cx="4571999" cy="20608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9B07E3-F4D0-853F-3A1D-2441CF153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151" y="3248725"/>
            <a:ext cx="4286848" cy="1162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07FF36-8530-FF81-F373-32A86F5C52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893" y="3272540"/>
            <a:ext cx="4248743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6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C5627A7A-7089-553C-CC3C-F416D5C3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7ABE9-23A1-9DCF-F8A0-0F386AABB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30CCBC70-E258-9290-2306-B008DC31D1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BAC3589F-D016-0E29-0145-4FBEE4DA97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28C83B-DE4F-E7B5-1318-874F7C44DB22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9E297475-6650-3E57-3153-D3816C21239C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2A913F0D-C4C2-83F3-70F9-B3CBF1958D5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436;p25">
            <a:extLst>
              <a:ext uri="{FF2B5EF4-FFF2-40B4-BE49-F238E27FC236}">
                <a16:creationId xmlns:a16="http://schemas.microsoft.com/office/drawing/2014/main" id="{F1A7EF69-A5DB-52B4-9CDB-2BC09BBA4153}"/>
              </a:ext>
            </a:extLst>
          </p:cNvPr>
          <p:cNvSpPr txBox="1"/>
          <p:nvPr/>
        </p:nvSpPr>
        <p:spPr>
          <a:xfrm>
            <a:off x="221589" y="80673"/>
            <a:ext cx="7544547" cy="50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Tương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quan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giữa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giá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trị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cổ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điển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giá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trị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tham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số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ước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lượng</a:t>
            </a:r>
            <a:endParaRPr lang="vi-VN" sz="2200" dirty="0">
              <a:solidFill>
                <a:srgbClr val="211E36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6468C-FC76-B56D-43B2-2E2AEC880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540"/>
          <a:stretch>
            <a:fillRect/>
          </a:stretch>
        </p:blipFill>
        <p:spPr>
          <a:xfrm>
            <a:off x="318011" y="596973"/>
            <a:ext cx="2745218" cy="1065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FB85CE-E16A-C1F1-6E06-1E42CF2628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540"/>
          <a:stretch>
            <a:fillRect/>
          </a:stretch>
        </p:blipFill>
        <p:spPr>
          <a:xfrm>
            <a:off x="3199390" y="596972"/>
            <a:ext cx="2745218" cy="10656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4FB2D2-469A-8F80-C477-26F7C1A1E8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11"/>
          <a:stretch>
            <a:fillRect/>
          </a:stretch>
        </p:blipFill>
        <p:spPr bwMode="auto">
          <a:xfrm>
            <a:off x="476980" y="2142511"/>
            <a:ext cx="2140960" cy="27169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ABDCB7-FCE1-8367-CAC7-AE15106BF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7968" y="2142511"/>
            <a:ext cx="2082271" cy="2716954"/>
          </a:xfrm>
          <a:prstGeom prst="rect">
            <a:avLst/>
          </a:prstGeom>
        </p:spPr>
      </p:pic>
      <p:sp>
        <p:nvSpPr>
          <p:cNvPr id="11" name="Google Shape;436;p25">
            <a:extLst>
              <a:ext uri="{FF2B5EF4-FFF2-40B4-BE49-F238E27FC236}">
                <a16:creationId xmlns:a16="http://schemas.microsoft.com/office/drawing/2014/main" id="{71B43BBE-6CBD-3821-CE26-7BBEEE8C5F1F}"/>
              </a:ext>
            </a:extLst>
          </p:cNvPr>
          <p:cNvSpPr txBox="1"/>
          <p:nvPr/>
        </p:nvSpPr>
        <p:spPr>
          <a:xfrm>
            <a:off x="5232801" y="2646489"/>
            <a:ext cx="3329691" cy="123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vi-VN" sz="2200" dirty="0">
                <a:solidFill>
                  <a:srgbClr val="211E36"/>
                </a:solidFill>
                <a:latin typeface="+mn-lt"/>
              </a:rPr>
              <a:t>Tương quan giữa kết quả học tập và kết quả thi thử</a:t>
            </a:r>
          </a:p>
        </p:txBody>
      </p:sp>
    </p:spTree>
    <p:extLst>
      <p:ext uri="{BB962C8B-B14F-4D97-AF65-F5344CB8AC3E}">
        <p14:creationId xmlns:p14="http://schemas.microsoft.com/office/powerpoint/2010/main" val="333690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42B9BB8F-315C-1ECE-2F12-1E60E25F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DEA71A-2C3C-68D4-8565-B8439D7841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Light" panose="01000000000000000000" pitchFamily="50" charset="0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735B2FB7-31BC-17EA-CFE5-086F326962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8225" y="4585335"/>
            <a:ext cx="505774" cy="548267"/>
          </a:xfrm>
          <a:prstGeom prst="rect">
            <a:avLst/>
          </a:prstGeom>
          <a:solidFill>
            <a:srgbClr val="211E36"/>
          </a:solidFill>
          <a:ln>
            <a:solidFill>
              <a:srgbClr val="211E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eue Einstellung Light" panose="01000000000000000000" pitchFamily="50" charset="0"/>
            </a:endParaRPr>
          </a:p>
        </p:txBody>
      </p:sp>
      <p:sp>
        <p:nvSpPr>
          <p:cNvPr id="462" name="Google Shape;436;p25">
            <a:extLst>
              <a:ext uri="{FF2B5EF4-FFF2-40B4-BE49-F238E27FC236}">
                <a16:creationId xmlns:a16="http://schemas.microsoft.com/office/drawing/2014/main" id="{6992F180-4AFC-0900-E17F-2648177D3B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200" dirty="0">
                <a:solidFill>
                  <a:srgbClr val="FAFAFC"/>
                </a:solidFill>
                <a:latin typeface="+mj-lt"/>
              </a:rPr>
              <a:t>1</a:t>
            </a:r>
            <a:r>
              <a:rPr lang="en-US" sz="3200" dirty="0">
                <a:solidFill>
                  <a:srgbClr val="FAFAFC"/>
                </a:solidFill>
                <a:latin typeface="+mj-lt"/>
              </a:rPr>
              <a:t>7</a:t>
            </a:r>
          </a:p>
        </p:txBody>
      </p:sp>
      <p:sp>
        <p:nvSpPr>
          <p:cNvPr id="5" name="Google Shape;436;p25">
            <a:extLst>
              <a:ext uri="{FF2B5EF4-FFF2-40B4-BE49-F238E27FC236}">
                <a16:creationId xmlns:a16="http://schemas.microsoft.com/office/drawing/2014/main" id="{E1BBB0C5-30B9-739C-0E3B-3D8F2B15FBAE}"/>
              </a:ext>
            </a:extLst>
          </p:cNvPr>
          <p:cNvSpPr txBox="1"/>
          <p:nvPr/>
        </p:nvSpPr>
        <p:spPr>
          <a:xfrm>
            <a:off x="1044640" y="248764"/>
            <a:ext cx="2204082" cy="596328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l">
              <a:buClr>
                <a:srgbClr val="211E36"/>
              </a:buClr>
              <a:buSzPct val="100000"/>
            </a:pP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Kết</a:t>
            </a:r>
            <a:r>
              <a:rPr lang="en-US" sz="28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 </a:t>
            </a:r>
            <a:r>
              <a:rPr lang="en-US" sz="2800" dirty="0" err="1">
                <a:solidFill>
                  <a:srgbClr val="FAFAFC"/>
                </a:solidFill>
                <a:latin typeface="Neue Einstellung SemiBold" panose="01000000000000000000" pitchFamily="50" charset="0"/>
              </a:rPr>
              <a:t>luận</a:t>
            </a:r>
            <a:endParaRPr lang="en-US" sz="28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D4C35B-CA42-2DBE-5721-FA9CB304E2A9}"/>
              </a:ext>
            </a:extLst>
          </p:cNvPr>
          <p:cNvGrpSpPr/>
          <p:nvPr/>
        </p:nvGrpSpPr>
        <p:grpSpPr>
          <a:xfrm>
            <a:off x="224156" y="248763"/>
            <a:ext cx="596328" cy="596328"/>
            <a:chOff x="431800" y="1463542"/>
            <a:chExt cx="717511" cy="717511"/>
          </a:xfrm>
          <a:solidFill>
            <a:srgbClr val="211E36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39F0A0-AD92-AC64-D843-094A67A4E7C6}"/>
                </a:ext>
              </a:extLst>
            </p:cNvPr>
            <p:cNvSpPr/>
            <p:nvPr/>
          </p:nvSpPr>
          <p:spPr>
            <a:xfrm>
              <a:off x="431800" y="1463542"/>
              <a:ext cx="717511" cy="717511"/>
            </a:xfrm>
            <a:prstGeom prst="ellipse">
              <a:avLst/>
            </a:prstGeom>
            <a:grpFill/>
            <a:ln>
              <a:solidFill>
                <a:srgbClr val="211E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Neue Einstellung SemiBold" panose="01000000000000000000" pitchFamily="50" charset="0"/>
              </a:endParaRPr>
            </a:p>
          </p:txBody>
        </p:sp>
        <p:sp>
          <p:nvSpPr>
            <p:cNvPr id="6" name="Google Shape;436;p25">
              <a:extLst>
                <a:ext uri="{FF2B5EF4-FFF2-40B4-BE49-F238E27FC236}">
                  <a16:creationId xmlns:a16="http://schemas.microsoft.com/office/drawing/2014/main" id="{CF5AC241-0A28-459B-944E-2CD9948E10AC}"/>
                </a:ext>
              </a:extLst>
            </p:cNvPr>
            <p:cNvSpPr txBox="1"/>
            <p:nvPr/>
          </p:nvSpPr>
          <p:spPr>
            <a:xfrm>
              <a:off x="559266" y="1481738"/>
              <a:ext cx="462577" cy="6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>
                <a:buClr>
                  <a:srgbClr val="211E36"/>
                </a:buClr>
                <a:buSzPct val="100000"/>
              </a:pPr>
              <a:r>
                <a:rPr lang="en-US" sz="2800" dirty="0">
                  <a:solidFill>
                    <a:srgbClr val="FAFAFC"/>
                  </a:solidFill>
                  <a:latin typeface="Neue Einstellung SemiBold" panose="01000000000000000000" pitchFamily="50" charset="0"/>
                </a:rPr>
                <a:t>8</a:t>
              </a:r>
            </a:p>
          </p:txBody>
        </p:sp>
      </p:grpSp>
      <p:sp>
        <p:nvSpPr>
          <p:cNvPr id="19" name="Google Shape;436;p25">
            <a:extLst>
              <a:ext uri="{FF2B5EF4-FFF2-40B4-BE49-F238E27FC236}">
                <a16:creationId xmlns:a16="http://schemas.microsoft.com/office/drawing/2014/main" id="{6780C416-EA07-178C-209E-D8699BF31CA8}"/>
              </a:ext>
            </a:extLst>
          </p:cNvPr>
          <p:cNvSpPr txBox="1"/>
          <p:nvPr/>
        </p:nvSpPr>
        <p:spPr>
          <a:xfrm>
            <a:off x="224156" y="1079007"/>
            <a:ext cx="8414069" cy="381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Kết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quả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: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Độ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tin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cậy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của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hai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cao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2 “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dễ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hơn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”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phân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hoá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tốt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hơn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đề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1.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Phần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lớn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các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câu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hỏi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chất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lượng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tốt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dù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nhiều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câu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misfit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SE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cao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Ước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lượng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năng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lực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sinh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tin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cậy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, SE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thấp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Có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sự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khác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biệt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giữa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năng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lực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trong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thử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và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thành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tích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tập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algn="just">
              <a:buClr>
                <a:srgbClr val="211E36"/>
              </a:buClr>
              <a:buSzPct val="100000"/>
            </a:pPr>
            <a:endParaRPr lang="en-US" sz="2200" dirty="0">
              <a:solidFill>
                <a:srgbClr val="211E36"/>
              </a:solidFill>
              <a:latin typeface="+mn-lt"/>
            </a:endParaRPr>
          </a:p>
          <a:p>
            <a:pPr algn="just">
              <a:buClr>
                <a:srgbClr val="211E36"/>
              </a:buClr>
              <a:buSzPct val="100000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Hạn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chế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,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khó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khăn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: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Khó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phân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tích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Tốn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thời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gian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thập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Ước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lượng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tham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số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câu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hỏi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còn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thiếu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ổn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định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r>
              <a:rPr lang="en-US" sz="2200" dirty="0" err="1">
                <a:solidFill>
                  <a:srgbClr val="211E36"/>
                </a:solidFill>
                <a:latin typeface="+mn-lt"/>
              </a:rPr>
              <a:t>Dữ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liệu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thành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tích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học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tập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chưa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 bao </a:t>
            </a:r>
            <a:r>
              <a:rPr lang="en-US" sz="2200" dirty="0" err="1">
                <a:solidFill>
                  <a:srgbClr val="211E36"/>
                </a:solidFill>
                <a:latin typeface="+mn-lt"/>
              </a:rPr>
              <a:t>quát</a:t>
            </a:r>
            <a:r>
              <a:rPr lang="en-US" sz="2200" dirty="0">
                <a:solidFill>
                  <a:srgbClr val="211E36"/>
                </a:solidFill>
                <a:latin typeface="+mn-lt"/>
              </a:rPr>
              <a:t>.</a:t>
            </a:r>
          </a:p>
          <a:p>
            <a:pPr marL="342900" indent="-342900" algn="just">
              <a:buClr>
                <a:srgbClr val="211E36"/>
              </a:buClr>
              <a:buSzPct val="100000"/>
              <a:buFontTx/>
              <a:buChar char="-"/>
            </a:pPr>
            <a:endParaRPr lang="en-US" sz="2200" dirty="0">
              <a:solidFill>
                <a:srgbClr val="211E36"/>
              </a:solidFill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710B08-7185-8C8E-1866-6F2D9FD34CA7}"/>
              </a:ext>
            </a:extLst>
          </p:cNvPr>
          <p:cNvGrpSpPr/>
          <p:nvPr/>
        </p:nvGrpSpPr>
        <p:grpSpPr>
          <a:xfrm>
            <a:off x="6778752" y="4607276"/>
            <a:ext cx="1783741" cy="504381"/>
            <a:chOff x="-1097007" y="4623793"/>
            <a:chExt cx="1783741" cy="504381"/>
          </a:xfrm>
        </p:grpSpPr>
        <p:sp>
          <p:nvSpPr>
            <p:cNvPr id="7" name="Google Shape;436;p25">
              <a:extLst>
                <a:ext uri="{FF2B5EF4-FFF2-40B4-BE49-F238E27FC236}">
                  <a16:creationId xmlns:a16="http://schemas.microsoft.com/office/drawing/2014/main" id="{B6325CDA-A15E-E84B-FB3E-1E6ED0A043A6}"/>
                </a:ext>
              </a:extLst>
            </p:cNvPr>
            <p:cNvSpPr txBox="1"/>
            <p:nvPr/>
          </p:nvSpPr>
          <p:spPr>
            <a:xfrm>
              <a:off x="-1097007" y="4623793"/>
              <a:ext cx="1783741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DS111.Q12</a:t>
              </a:r>
              <a:r>
                <a:rPr lang="vi-VN" sz="1600" dirty="0">
                  <a:solidFill>
                    <a:srgbClr val="211E36"/>
                  </a:solidFill>
                  <a:latin typeface="Neue Einstellung Light" panose="01000000000000000000" pitchFamily="50" charset="0"/>
                </a:rPr>
                <a:t> |</a:t>
              </a:r>
              <a:endParaRPr lang="en-US" sz="1600" dirty="0">
                <a:solidFill>
                  <a:srgbClr val="211E36"/>
                </a:solidFill>
                <a:latin typeface="Neue Einstellung Light" panose="01000000000000000000" pitchFamily="50" charset="0"/>
              </a:endParaRPr>
            </a:p>
          </p:txBody>
        </p:sp>
        <p:pic>
          <p:nvPicPr>
            <p:cNvPr id="14" name="Google Shape;93;p1">
              <a:extLst>
                <a:ext uri="{FF2B5EF4-FFF2-40B4-BE49-F238E27FC236}">
                  <a16:creationId xmlns:a16="http://schemas.microsoft.com/office/drawing/2014/main" id="{E58C6E17-2780-942F-BDFE-6DA8C30CB6E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1846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0175BA-3F73-1E42-4485-A8512CF9E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SemiBold" panose="01000000000000000000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B8E8A5-0109-D753-20AC-1A2570432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9143999" cy="512851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SemiBold" panose="01000000000000000000" pitchFamily="50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BAA9FD-277F-EAAC-DD61-2AD3D8CA8361}"/>
              </a:ext>
            </a:extLst>
          </p:cNvPr>
          <p:cNvSpPr/>
          <p:nvPr/>
        </p:nvSpPr>
        <p:spPr>
          <a:xfrm>
            <a:off x="1" y="4630649"/>
            <a:ext cx="9143999" cy="512851"/>
          </a:xfrm>
          <a:prstGeom prst="rect">
            <a:avLst/>
          </a:prstGeom>
          <a:solidFill>
            <a:srgbClr val="211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Neue Einstellung SemiBold" panose="01000000000000000000" pitchFamily="50" charset="0"/>
            </a:endParaRPr>
          </a:p>
        </p:txBody>
      </p:sp>
      <p:sp>
        <p:nvSpPr>
          <p:cNvPr id="18" name="Google Shape;436;p25">
            <a:extLst>
              <a:ext uri="{FF2B5EF4-FFF2-40B4-BE49-F238E27FC236}">
                <a16:creationId xmlns:a16="http://schemas.microsoft.com/office/drawing/2014/main" id="{5842E889-393E-BC9C-1E59-F4DD3F950A37}"/>
              </a:ext>
            </a:extLst>
          </p:cNvPr>
          <p:cNvSpPr txBox="1"/>
          <p:nvPr/>
        </p:nvSpPr>
        <p:spPr>
          <a:xfrm>
            <a:off x="-64420" y="2061627"/>
            <a:ext cx="9272838" cy="124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r>
              <a:rPr lang="vi-VN" sz="3600" dirty="0">
                <a:solidFill>
                  <a:srgbClr val="FAFAFC"/>
                </a:solidFill>
                <a:latin typeface="Neue Einstellung SemiBold" panose="01000000000000000000" pitchFamily="50" charset="0"/>
              </a:rPr>
              <a:t>THANK YOU</a:t>
            </a:r>
            <a:endParaRPr lang="en-US" sz="3600" dirty="0">
              <a:solidFill>
                <a:srgbClr val="FAFAFC"/>
              </a:solidFill>
              <a:latin typeface="Neue Einstellung SemiBold" panose="01000000000000000000" pitchFamily="50" charset="0"/>
            </a:endParaRPr>
          </a:p>
          <a:p>
            <a:pPr>
              <a:buClr>
                <a:srgbClr val="211E36"/>
              </a:buClr>
              <a:buSzPct val="100000"/>
            </a:pPr>
            <a:r>
              <a:rPr lang="en-US" sz="3600" dirty="0">
                <a:solidFill>
                  <a:srgbClr val="FAFAFC"/>
                </a:solidFill>
                <a:latin typeface="Neue Einstellung Light" panose="020B0604020202020204" charset="0"/>
              </a:rPr>
              <a:t>Q&amp;A?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26A631-FF65-39F5-4197-64FE45D20AC7}"/>
              </a:ext>
            </a:extLst>
          </p:cNvPr>
          <p:cNvGrpSpPr/>
          <p:nvPr/>
        </p:nvGrpSpPr>
        <p:grpSpPr>
          <a:xfrm>
            <a:off x="224157" y="4629221"/>
            <a:ext cx="3465716" cy="504381"/>
            <a:chOff x="224157" y="4629221"/>
            <a:chExt cx="3465716" cy="504381"/>
          </a:xfrm>
        </p:grpSpPr>
        <p:sp>
          <p:nvSpPr>
            <p:cNvPr id="10" name="Google Shape;436;p25">
              <a:extLst>
                <a:ext uri="{FF2B5EF4-FFF2-40B4-BE49-F238E27FC236}">
                  <a16:creationId xmlns:a16="http://schemas.microsoft.com/office/drawing/2014/main" id="{95C9A775-E030-4D0C-0318-EBACC4D58B77}"/>
                </a:ext>
              </a:extLst>
            </p:cNvPr>
            <p:cNvSpPr txBox="1"/>
            <p:nvPr/>
          </p:nvSpPr>
          <p:spPr>
            <a:xfrm>
              <a:off x="686735" y="4629221"/>
              <a:ext cx="3003138" cy="50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200"/>
                <a:buFont typeface="Share Tech"/>
                <a:buNone/>
                <a:defRPr sz="5200" b="0" i="0" u="none" strike="noStrike" cap="none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defRPr>
              </a:lvl9pPr>
            </a:lstStyle>
            <a:p>
              <a:pPr algn="l"/>
              <a:r>
                <a:rPr lang="en-US" sz="16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|   </a:t>
              </a:r>
              <a:r>
                <a:rPr lang="vi-VN" sz="16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DS</a:t>
              </a:r>
              <a:r>
                <a:rPr lang="en-US" sz="16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111</a:t>
              </a:r>
              <a:r>
                <a:rPr lang="vi-VN" sz="16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.</a:t>
              </a:r>
              <a:r>
                <a:rPr lang="en-US" sz="1600" dirty="0">
                  <a:solidFill>
                    <a:srgbClr val="FFFFFF"/>
                  </a:solidFill>
                  <a:latin typeface="Neue Einstellung Light" panose="01000000000000000000" pitchFamily="50" charset="0"/>
                </a:rPr>
                <a:t>Q12</a:t>
              </a:r>
            </a:p>
          </p:txBody>
        </p:sp>
        <p:pic>
          <p:nvPicPr>
            <p:cNvPr id="11" name="Google Shape;93;p1">
              <a:extLst>
                <a:ext uri="{FF2B5EF4-FFF2-40B4-BE49-F238E27FC236}">
                  <a16:creationId xmlns:a16="http://schemas.microsoft.com/office/drawing/2014/main" id="{CAEEBEC6-F294-C82F-098A-9F83CD8A3C4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57" y="4694651"/>
              <a:ext cx="462577" cy="373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436;p25">
            <a:extLst>
              <a:ext uri="{FF2B5EF4-FFF2-40B4-BE49-F238E27FC236}">
                <a16:creationId xmlns:a16="http://schemas.microsoft.com/office/drawing/2014/main" id="{3821337E-3CB9-0196-F4AB-0789F57D7435}"/>
              </a:ext>
            </a:extLst>
          </p:cNvPr>
          <p:cNvSpPr txBox="1"/>
          <p:nvPr/>
        </p:nvSpPr>
        <p:spPr>
          <a:xfrm>
            <a:off x="8562493" y="4503240"/>
            <a:ext cx="657238" cy="7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pPr>
              <a:buClr>
                <a:srgbClr val="211E36"/>
              </a:buClr>
              <a:buSzPct val="100000"/>
            </a:pPr>
            <a:endParaRPr lang="en-US" sz="3200" dirty="0">
              <a:solidFill>
                <a:srgbClr val="FAFAF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9181183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Custom 1">
      <a:majorFont>
        <a:latin typeface="Neue Einstellung Black"/>
        <a:ea typeface=""/>
        <a:cs typeface=""/>
      </a:majorFont>
      <a:minorFont>
        <a:latin typeface="Neue Einstellu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5e165bd-d1bc-4fe9-8f4e-343137b3c93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564E5089AB94B44E8326C48C342689F8" ma:contentTypeVersion="6" ma:contentTypeDescription="Tạo tài liệu mới." ma:contentTypeScope="" ma:versionID="09a4e7d7b555d70fb6245fbbfc7144e6">
  <xsd:schema xmlns:xsd="http://www.w3.org/2001/XMLSchema" xmlns:xs="http://www.w3.org/2001/XMLSchema" xmlns:p="http://schemas.microsoft.com/office/2006/metadata/properties" xmlns:ns3="95e165bd-d1bc-4fe9-8f4e-343137b3c93d" targetNamespace="http://schemas.microsoft.com/office/2006/metadata/properties" ma:root="true" ma:fieldsID="2f24613c61a76e0d0cd279ceb283ecd2" ns3:_="">
    <xsd:import namespace="95e165bd-d1bc-4fe9-8f4e-343137b3c9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e165bd-d1bc-4fe9-8f4e-343137b3c9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9DCE7C-7D75-4794-ACCD-AFD74671DE2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95e165bd-d1bc-4fe9-8f4e-343137b3c93d"/>
    <ds:schemaRef ds:uri="http://purl.org/dc/elements/1.1/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D559AFB-D989-49F5-91D2-8404CB9FB877}">
  <ds:schemaRefs>
    <ds:schemaRef ds:uri="95e165bd-d1bc-4fe9-8f4e-343137b3c9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19DA40E-33C6-40B3-8AC5-2E3282DB80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744</Words>
  <Application>Microsoft Office PowerPoint</Application>
  <PresentationFormat>On-screen Show (16:9)</PresentationFormat>
  <Paragraphs>120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Neue Einstellung Light</vt:lpstr>
      <vt:lpstr>Share Tech</vt:lpstr>
      <vt:lpstr>Arial</vt:lpstr>
      <vt:lpstr>Maven Pro</vt:lpstr>
      <vt:lpstr>Neue Einstellung SemiBold</vt:lpstr>
      <vt:lpstr>Data Science Consulting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Khảo sát cơ sở hạ tầng công nghệ thông tin Bệnh viện Tâm thần Trung ương 2</dc:title>
  <dc:creator>Bá Thuận Phạm</dc:creator>
  <cp:lastModifiedBy>Thái Bình Dương</cp:lastModifiedBy>
  <cp:revision>156</cp:revision>
  <dcterms:modified xsi:type="dcterms:W3CDTF">2025-12-23T08:44:29Z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0x010100564E5089AB94B44E8326C48C342689F8</vt:lpwstr>
  </property>
</Properties>
</file>